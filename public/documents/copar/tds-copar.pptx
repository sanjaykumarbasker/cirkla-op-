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8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999B"/>
    <a:srgbClr val="024C59"/>
    <a:srgbClr val="D1D3D4"/>
    <a:srgbClr val="58595B"/>
    <a:srgbClr val="00A8AB"/>
    <a:srgbClr val="35A4BB"/>
    <a:srgbClr val="289C9D"/>
    <a:srgbClr val="B1D232"/>
    <a:srgbClr val="00ABC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69"/>
    <p:restoredTop sz="94658"/>
  </p:normalViewPr>
  <p:slideViewPr>
    <p:cSldViewPr snapToGrid="0" snapToObjects="1">
      <p:cViewPr>
        <p:scale>
          <a:sx n="155" d="100"/>
          <a:sy n="155" d="100"/>
        </p:scale>
        <p:origin x="776" y="-3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42B24-240F-B046-BF4F-5F83B1A18A8A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642D6-17BB-EC45-9729-DF00C2557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28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9642D6-17BB-EC45-9729-DF00C2557F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964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848-2477-5542-B3D9-1B28DEDAE47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CF402-EBB2-6444-BE1F-C32A15482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01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848-2477-5542-B3D9-1B28DEDAE47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CF402-EBB2-6444-BE1F-C32A15482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673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848-2477-5542-B3D9-1B28DEDAE47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CF402-EBB2-6444-BE1F-C32A15482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04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848-2477-5542-B3D9-1B28DEDAE47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CF402-EBB2-6444-BE1F-C32A15482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2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848-2477-5542-B3D9-1B28DEDAE47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CF402-EBB2-6444-BE1F-C32A15482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848-2477-5542-B3D9-1B28DEDAE47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CF402-EBB2-6444-BE1F-C32A15482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03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848-2477-5542-B3D9-1B28DEDAE47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CF402-EBB2-6444-BE1F-C32A15482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21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848-2477-5542-B3D9-1B28DEDAE47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CF402-EBB2-6444-BE1F-C32A15482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91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848-2477-5542-B3D9-1B28DEDAE47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CF402-EBB2-6444-BE1F-C32A15482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41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848-2477-5542-B3D9-1B28DEDAE47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CF402-EBB2-6444-BE1F-C32A15482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9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AE848-2477-5542-B3D9-1B28DEDAE47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CF402-EBB2-6444-BE1F-C32A15482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532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AE848-2477-5542-B3D9-1B28DEDAE47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CF402-EBB2-6444-BE1F-C32A154828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32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par.eco/pages/custom-packag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34D2CBC-744B-0516-5E53-A8E7ECFC8A15}"/>
              </a:ext>
            </a:extLst>
          </p:cNvPr>
          <p:cNvSpPr/>
          <p:nvPr/>
        </p:nvSpPr>
        <p:spPr>
          <a:xfrm flipH="1">
            <a:off x="-9013" y="2908731"/>
            <a:ext cx="6876026" cy="1323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1C9D82-EF44-352E-8A0C-0F8D09632F74}"/>
              </a:ext>
            </a:extLst>
          </p:cNvPr>
          <p:cNvSpPr/>
          <p:nvPr/>
        </p:nvSpPr>
        <p:spPr>
          <a:xfrm flipH="1">
            <a:off x="210047" y="3044911"/>
            <a:ext cx="2003853" cy="10510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3EC3DE-4D5A-72EB-5395-D0DB8F429DB8}"/>
              </a:ext>
            </a:extLst>
          </p:cNvPr>
          <p:cNvSpPr/>
          <p:nvPr/>
        </p:nvSpPr>
        <p:spPr>
          <a:xfrm flipH="1">
            <a:off x="2370920" y="3044911"/>
            <a:ext cx="2116159" cy="10510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3D2C23-13A2-954A-2242-446CA7778B18}"/>
              </a:ext>
            </a:extLst>
          </p:cNvPr>
          <p:cNvSpPr/>
          <p:nvPr/>
        </p:nvSpPr>
        <p:spPr>
          <a:xfrm flipH="1">
            <a:off x="4644098" y="3044911"/>
            <a:ext cx="2003852" cy="105109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B80101-2A6B-6F12-D1BE-C078E7B31A0F}"/>
              </a:ext>
            </a:extLst>
          </p:cNvPr>
          <p:cNvSpPr/>
          <p:nvPr/>
        </p:nvSpPr>
        <p:spPr>
          <a:xfrm flipH="1">
            <a:off x="-3266" y="0"/>
            <a:ext cx="6861266" cy="2932175"/>
          </a:xfrm>
          <a:prstGeom prst="rect">
            <a:avLst/>
          </a:prstGeom>
          <a:solidFill>
            <a:srgbClr val="024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A16F13-64D8-6AED-CF83-CBED0DC18EA9}"/>
              </a:ext>
            </a:extLst>
          </p:cNvPr>
          <p:cNvSpPr/>
          <p:nvPr/>
        </p:nvSpPr>
        <p:spPr>
          <a:xfrm>
            <a:off x="2457739" y="949664"/>
            <a:ext cx="4101323" cy="18843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AFBDA-454E-5D87-8F6E-69FFE46439A2}"/>
              </a:ext>
            </a:extLst>
          </p:cNvPr>
          <p:cNvSpPr txBox="1"/>
          <p:nvPr/>
        </p:nvSpPr>
        <p:spPr>
          <a:xfrm>
            <a:off x="2467732" y="451955"/>
            <a:ext cx="4091330" cy="1384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/>
            <a:r>
              <a:rPr lang="en-US" sz="900" b="1" dirty="0">
                <a:solidFill>
                  <a:srgbClr val="01999B"/>
                </a:solidFill>
                <a:latin typeface="Qanelas Bold" pitchFamily="2" charset="77"/>
              </a:rPr>
              <a:t> PRODUCT SPECIFICATIONS – Dual Compartment 60:40 Tray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F35523-833A-E1B9-5225-4E7B6B06AE67}"/>
              </a:ext>
            </a:extLst>
          </p:cNvPr>
          <p:cNvSpPr txBox="1"/>
          <p:nvPr/>
        </p:nvSpPr>
        <p:spPr>
          <a:xfrm>
            <a:off x="185961" y="824814"/>
            <a:ext cx="2291115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01999B"/>
                </a:solidFill>
                <a:latin typeface="Qanelas Bold" pitchFamily="2" charset="77"/>
              </a:rPr>
              <a:t>Dual Compartment </a:t>
            </a:r>
          </a:p>
          <a:p>
            <a:r>
              <a:rPr lang="en-US" sz="2400" dirty="0">
                <a:solidFill>
                  <a:srgbClr val="01999B"/>
                </a:solidFill>
                <a:latin typeface="Qanelas Bold" pitchFamily="2" charset="77"/>
              </a:rPr>
              <a:t>Tray – 60:40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85D5E9-D0C5-7AC6-3B37-4383F727E614}"/>
              </a:ext>
            </a:extLst>
          </p:cNvPr>
          <p:cNvSpPr txBox="1"/>
          <p:nvPr/>
        </p:nvSpPr>
        <p:spPr>
          <a:xfrm>
            <a:off x="216221" y="2081124"/>
            <a:ext cx="1746855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Qanelas" pitchFamily="2" charset="77"/>
              </a:rPr>
              <a:t>187L x 147W x 32H (mm)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1F8C8CB-1A89-38D0-509D-FBEDC77C3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497527"/>
              </p:ext>
            </p:extLst>
          </p:nvPr>
        </p:nvGraphicFramePr>
        <p:xfrm>
          <a:off x="210050" y="4342969"/>
          <a:ext cx="6437902" cy="2739397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2080568">
                  <a:extLst>
                    <a:ext uri="{9D8B030D-6E8A-4147-A177-3AD203B41FA5}">
                      <a16:colId xmlns:a16="http://schemas.microsoft.com/office/drawing/2014/main" val="885417988"/>
                    </a:ext>
                  </a:extLst>
                </a:gridCol>
                <a:gridCol w="2256066">
                  <a:extLst>
                    <a:ext uri="{9D8B030D-6E8A-4147-A177-3AD203B41FA5}">
                      <a16:colId xmlns:a16="http://schemas.microsoft.com/office/drawing/2014/main" val="1728357323"/>
                    </a:ext>
                  </a:extLst>
                </a:gridCol>
                <a:gridCol w="2101268">
                  <a:extLst>
                    <a:ext uri="{9D8B030D-6E8A-4147-A177-3AD203B41FA5}">
                      <a16:colId xmlns:a16="http://schemas.microsoft.com/office/drawing/2014/main" val="1126521795"/>
                    </a:ext>
                  </a:extLst>
                </a:gridCol>
              </a:tblGrid>
              <a:tr h="500803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1" i="0" dirty="0">
                          <a:effectLst/>
                          <a:latin typeface="Qanelas Bold" pitchFamily="2" charset="77"/>
                        </a:rPr>
                        <a:t>Product Dimensions (mm):</a:t>
                      </a:r>
                      <a:br>
                        <a:rPr lang="en-GB" sz="1050" b="1" i="0" dirty="0">
                          <a:effectLst/>
                          <a:latin typeface="Qanelas Bold" pitchFamily="2" charset="77"/>
                        </a:rPr>
                      </a:br>
                      <a:r>
                        <a:rPr lang="en-GB" sz="1050" b="0" dirty="0">
                          <a:effectLst/>
                          <a:latin typeface="Qanelas" pitchFamily="2" charset="77"/>
                        </a:rPr>
                        <a:t>187L x 147W x 32H </a:t>
                      </a:r>
                      <a:endParaRPr lang="en-IN" sz="1050" b="0" dirty="0">
                        <a:solidFill>
                          <a:srgbClr val="000000"/>
                        </a:solidFill>
                        <a:effectLst/>
                        <a:latin typeface="Qanelas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90000" marB="90000">
                    <a:lnB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50" b="1" i="0" kern="1200" dirty="0">
                          <a:solidFill>
                            <a:schemeClr val="tx1"/>
                          </a:solidFill>
                          <a:effectLst/>
                          <a:latin typeface="Qanelas Bold" pitchFamily="2" charset="77"/>
                          <a:ea typeface="+mn-ea"/>
                          <a:cs typeface="+mn-cs"/>
                        </a:rPr>
                        <a:t>Thickness (mm): </a:t>
                      </a:r>
                      <a:r>
                        <a:rPr lang="en-GB" sz="1050" b="0" dirty="0">
                          <a:effectLst/>
                          <a:latin typeface="Qanelas" pitchFamily="2" charset="77"/>
                        </a:rPr>
                        <a:t>0.7 mm</a:t>
                      </a:r>
                      <a:endParaRPr lang="en-IN" sz="1050" b="0" dirty="0">
                        <a:solidFill>
                          <a:srgbClr val="000000"/>
                        </a:solidFill>
                        <a:effectLst/>
                        <a:latin typeface="Qanelas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90000" marB="90000">
                    <a:lnB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50" b="1" i="0" kern="1200" dirty="0">
                          <a:solidFill>
                            <a:schemeClr val="tx1"/>
                          </a:solidFill>
                          <a:effectLst/>
                          <a:latin typeface="Qanelas Bold" pitchFamily="2" charset="77"/>
                          <a:ea typeface="+mn-ea"/>
                          <a:cs typeface="+mn-cs"/>
                        </a:rPr>
                        <a:t>Product Weight (g): </a:t>
                      </a:r>
                      <a:r>
                        <a:rPr lang="en-GB" sz="1050" b="0" i="0" kern="1200" dirty="0">
                          <a:solidFill>
                            <a:schemeClr val="tx1"/>
                          </a:solidFill>
                          <a:effectLst/>
                          <a:latin typeface="Qanelas" pitchFamily="2" charset="77"/>
                          <a:ea typeface="+mn-ea"/>
                          <a:cs typeface="+mn-cs"/>
                        </a:rPr>
                        <a:t>20</a:t>
                      </a:r>
                      <a:r>
                        <a:rPr lang="en-GB" sz="1050" b="0" dirty="0">
                          <a:effectLst/>
                          <a:latin typeface="Qanelas" pitchFamily="2" charset="77"/>
                        </a:rPr>
                        <a:t> grams</a:t>
                      </a:r>
                      <a:endParaRPr lang="en-IN" sz="1050" b="0" dirty="0">
                        <a:solidFill>
                          <a:srgbClr val="000000"/>
                        </a:solidFill>
                        <a:effectLst/>
                        <a:latin typeface="Qanelas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90000" marB="90000">
                    <a:lnB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2854505"/>
                  </a:ext>
                </a:extLst>
              </a:tr>
              <a:tr h="58170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1" i="0" dirty="0">
                          <a:effectLst/>
                          <a:latin typeface="Qanelas Bold" pitchFamily="2" charset="77"/>
                        </a:rPr>
                        <a:t>Raw Material: </a:t>
                      </a:r>
                      <a:r>
                        <a:rPr lang="en-GB" sz="1050" b="0" i="0" dirty="0">
                          <a:effectLst/>
                          <a:latin typeface="Qanelas" pitchFamily="2" charset="77"/>
                        </a:rPr>
                        <a:t>80</a:t>
                      </a:r>
                      <a:r>
                        <a:rPr lang="en-GB" sz="1050" b="0" dirty="0">
                          <a:effectLst/>
                          <a:latin typeface="Qanelas" pitchFamily="2" charset="77"/>
                        </a:rPr>
                        <a:t>% Unbleached Bagasse, 20% Soft Wood </a:t>
                      </a:r>
                    </a:p>
                  </a:txBody>
                  <a:tcPr marL="90000" marR="90000" marT="90000" marB="90000">
                    <a:lnT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50" b="1" i="0" kern="1200" dirty="0">
                          <a:solidFill>
                            <a:schemeClr val="tx1"/>
                          </a:solidFill>
                          <a:effectLst/>
                          <a:latin typeface="Qanelas Bold" pitchFamily="2" charset="77"/>
                          <a:ea typeface="+mn-ea"/>
                          <a:cs typeface="+mn-cs"/>
                        </a:rPr>
                        <a:t>Customisation: </a:t>
                      </a:r>
                      <a:r>
                        <a:rPr lang="en-GB" sz="1050" b="0" dirty="0">
                          <a:effectLst/>
                          <a:latin typeface="Qanelas" pitchFamily="2" charset="77"/>
                        </a:rPr>
                        <a:t>Yes </a:t>
                      </a:r>
                      <a:br>
                        <a:rPr lang="en-GB" sz="1050" b="0" dirty="0">
                          <a:effectLst/>
                          <a:latin typeface="Qanelas" pitchFamily="2" charset="77"/>
                        </a:rPr>
                      </a:br>
                      <a:r>
                        <a:rPr lang="en-GB" sz="1050" b="0" dirty="0">
                          <a:effectLst/>
                          <a:latin typeface="Qanelas" pitchFamily="2" charset="77"/>
                        </a:rPr>
                        <a:t>– See </a:t>
                      </a:r>
                      <a:r>
                        <a:rPr lang="en-GB" sz="1050" b="0" dirty="0">
                          <a:effectLst/>
                          <a:latin typeface="Qanelas" pitchFamily="2" charset="77"/>
                          <a:hlinkClick r:id="rId3"/>
                        </a:rPr>
                        <a:t>Custom Packaging</a:t>
                      </a:r>
                      <a:endParaRPr lang="en-IN" sz="1050" b="0" dirty="0">
                        <a:effectLst/>
                        <a:latin typeface="Qanelas" pitchFamily="2" charset="77"/>
                      </a:endParaRPr>
                    </a:p>
                  </a:txBody>
                  <a:tcPr marL="90000" marR="90000" marT="90000" marB="90000">
                    <a:lnT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50" b="1" i="0" kern="1200" dirty="0">
                          <a:solidFill>
                            <a:schemeClr val="tx1"/>
                          </a:solidFill>
                          <a:effectLst/>
                          <a:latin typeface="Qanelas Bold" pitchFamily="2" charset="77"/>
                          <a:ea typeface="+mn-ea"/>
                          <a:cs typeface="+mn-cs"/>
                        </a:rPr>
                        <a:t>Recyclable: </a:t>
                      </a:r>
                      <a:r>
                        <a:rPr lang="en-GB" sz="1050" b="0" dirty="0">
                          <a:effectLst/>
                          <a:latin typeface="Qanelas" pitchFamily="2" charset="77"/>
                        </a:rPr>
                        <a:t>Yes</a:t>
                      </a:r>
                      <a:endParaRPr lang="en-IN" sz="1050" b="0" dirty="0">
                        <a:solidFill>
                          <a:srgbClr val="000000"/>
                        </a:solidFill>
                        <a:effectLst/>
                        <a:latin typeface="Qanelas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90000" marB="90000">
                    <a:lnT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077463"/>
                  </a:ext>
                </a:extLst>
              </a:tr>
              <a:tr h="5684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50" b="1" i="0" kern="1200" dirty="0">
                          <a:solidFill>
                            <a:schemeClr val="tx1"/>
                          </a:solidFill>
                          <a:effectLst/>
                          <a:latin typeface="Qanelas Bold" pitchFamily="2" charset="77"/>
                          <a:ea typeface="+mn-ea"/>
                          <a:cs typeface="+mn-cs"/>
                        </a:rPr>
                        <a:t>Usage: </a:t>
                      </a:r>
                      <a:r>
                        <a:rPr lang="en-GB" sz="1050" b="0" dirty="0">
                          <a:effectLst/>
                          <a:latin typeface="Qanelas" pitchFamily="2" charset="77"/>
                        </a:rPr>
                        <a:t>Hot/Cold &amp; Wet/Dry products</a:t>
                      </a:r>
                      <a:endParaRPr lang="en-IN" sz="1050" b="0" dirty="0">
                        <a:solidFill>
                          <a:srgbClr val="000000"/>
                        </a:solidFill>
                        <a:effectLst/>
                        <a:latin typeface="Qanelas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90000" marB="90000">
                    <a:lnT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050" b="1" i="0" kern="1200" dirty="0">
                          <a:solidFill>
                            <a:schemeClr val="tx1"/>
                          </a:solidFill>
                          <a:effectLst/>
                          <a:latin typeface="Qanelas Bold" pitchFamily="2" charset="77"/>
                          <a:ea typeface="+mn-ea"/>
                          <a:cs typeface="+mn-cs"/>
                        </a:rPr>
                        <a:t>Manufactured: </a:t>
                      </a:r>
                      <a:r>
                        <a:rPr lang="en-GB" sz="1050" b="0" i="0" kern="1200" dirty="0">
                          <a:solidFill>
                            <a:schemeClr val="tx1"/>
                          </a:solidFill>
                          <a:effectLst/>
                          <a:latin typeface="Qanelas" pitchFamily="2" charset="77"/>
                          <a:ea typeface="+mn-ea"/>
                          <a:cs typeface="+mn-cs"/>
                        </a:rPr>
                        <a:t>India</a:t>
                      </a:r>
                      <a:endParaRPr lang="en-IN" sz="1050" b="0" dirty="0">
                        <a:solidFill>
                          <a:srgbClr val="000000"/>
                        </a:solidFill>
                        <a:effectLst/>
                        <a:latin typeface="Qanelas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90000" marB="90000">
                    <a:lnT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1" i="0" kern="1200" dirty="0">
                          <a:solidFill>
                            <a:schemeClr val="tx1"/>
                          </a:solidFill>
                          <a:effectLst/>
                          <a:latin typeface="Qanelas Bold" pitchFamily="2" charset="77"/>
                          <a:ea typeface="+mn-ea"/>
                          <a:cs typeface="+mn-cs"/>
                        </a:rPr>
                        <a:t>MOQ</a:t>
                      </a:r>
                      <a:r>
                        <a:rPr lang="en-GB" sz="1050" b="1" i="1" kern="1200" dirty="0">
                          <a:solidFill>
                            <a:schemeClr val="tx1"/>
                          </a:solidFill>
                          <a:effectLst/>
                          <a:latin typeface="Qanelas Bold" pitchFamily="2" charset="77"/>
                          <a:ea typeface="+mn-ea"/>
                          <a:cs typeface="+mn-cs"/>
                        </a:rPr>
                        <a:t>: </a:t>
                      </a:r>
                      <a:r>
                        <a:rPr lang="en-GB" sz="1050" b="0" i="0" kern="1200" dirty="0">
                          <a:solidFill>
                            <a:schemeClr val="tx1"/>
                          </a:solidFill>
                          <a:effectLst/>
                          <a:latin typeface="Qanelas" pitchFamily="2" charset="77"/>
                          <a:ea typeface="+mn-ea"/>
                          <a:cs typeface="+mn-cs"/>
                        </a:rPr>
                        <a:t>NA*</a:t>
                      </a:r>
                      <a:endParaRPr lang="en-GB" sz="1050" b="0" i="0" dirty="0">
                        <a:effectLst/>
                        <a:latin typeface="Qanelas" pitchFamily="2" charset="77"/>
                      </a:endParaRPr>
                    </a:p>
                  </a:txBody>
                  <a:tcPr marL="90000" marR="90000" marT="90000" marB="90000">
                    <a:lnT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676835"/>
                  </a:ext>
                </a:extLst>
              </a:tr>
              <a:tr h="50080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1" i="0" kern="1200" dirty="0">
                          <a:solidFill>
                            <a:schemeClr val="tx1"/>
                          </a:solidFill>
                          <a:effectLst/>
                          <a:latin typeface="Qanelas Bold" pitchFamily="2" charset="77"/>
                          <a:ea typeface="+mn-ea"/>
                          <a:cs typeface="+mn-cs"/>
                        </a:rPr>
                        <a:t>Map Compliant: </a:t>
                      </a:r>
                      <a:r>
                        <a:rPr lang="en-GB" sz="1050" b="0" dirty="0">
                          <a:effectLst/>
                          <a:latin typeface="Qanelas" pitchFamily="2" charset="77"/>
                        </a:rPr>
                        <a:t>Yes</a:t>
                      </a:r>
                      <a:endParaRPr lang="en-IN" sz="1050" b="0" dirty="0">
                        <a:solidFill>
                          <a:srgbClr val="000000"/>
                        </a:solidFill>
                        <a:effectLst/>
                        <a:latin typeface="Qanelas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90000" marB="90000">
                    <a:lnT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1" i="0" kern="1200" dirty="0">
                          <a:solidFill>
                            <a:schemeClr val="tx1"/>
                          </a:solidFill>
                          <a:effectLst/>
                          <a:latin typeface="Qanelas Bold" pitchFamily="2" charset="77"/>
                          <a:ea typeface="+mn-ea"/>
                          <a:cs typeface="+mn-cs"/>
                        </a:rPr>
                        <a:t>Freezable: </a:t>
                      </a:r>
                      <a:r>
                        <a:rPr lang="en-GB" sz="1050" b="0" i="0" dirty="0">
                          <a:effectLst/>
                          <a:latin typeface="Qanelas" pitchFamily="2" charset="77"/>
                        </a:rPr>
                        <a:t>Yes</a:t>
                      </a:r>
                    </a:p>
                  </a:txBody>
                  <a:tcPr marL="90000" marR="90000" marT="90000" marB="90000">
                    <a:lnT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b="1" i="0" kern="1200" dirty="0">
                          <a:solidFill>
                            <a:schemeClr val="tx1"/>
                          </a:solidFill>
                          <a:effectLst/>
                          <a:latin typeface="Qanelas Bold" pitchFamily="2" charset="77"/>
                          <a:ea typeface="+mn-ea"/>
                          <a:cs typeface="+mn-cs"/>
                        </a:rPr>
                        <a:t>Microwaveable: </a:t>
                      </a:r>
                      <a:r>
                        <a:rPr lang="en-IN" sz="1050" b="0" dirty="0">
                          <a:solidFill>
                            <a:srgbClr val="000000"/>
                          </a:solidFill>
                          <a:effectLst/>
                          <a:latin typeface="Qanelas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Yes </a:t>
                      </a:r>
                      <a:r>
                        <a:rPr lang="en-IN" sz="1050" b="0" dirty="0" err="1">
                          <a:solidFill>
                            <a:srgbClr val="000000"/>
                          </a:solidFill>
                          <a:effectLst/>
                          <a:latin typeface="Qanelas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Upto</a:t>
                      </a:r>
                      <a:r>
                        <a:rPr lang="en-IN" sz="1050" b="0" dirty="0">
                          <a:solidFill>
                            <a:srgbClr val="000000"/>
                          </a:solidFill>
                          <a:effectLst/>
                          <a:latin typeface="Qanelas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220</a:t>
                      </a:r>
                      <a:r>
                        <a:rPr lang="en-IN" sz="1050" b="0" baseline="30000" dirty="0">
                          <a:solidFill>
                            <a:srgbClr val="000000"/>
                          </a:solidFill>
                          <a:effectLst/>
                          <a:latin typeface="Qanelas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en-IN" sz="1050" b="0" baseline="0" dirty="0">
                          <a:solidFill>
                            <a:srgbClr val="000000"/>
                          </a:solidFill>
                          <a:effectLst/>
                          <a:latin typeface="Qanelas" pitchFamily="2" charset="77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IN" sz="1050" b="0" baseline="30000" dirty="0">
                        <a:solidFill>
                          <a:srgbClr val="000000"/>
                        </a:solidFill>
                        <a:effectLst/>
                        <a:latin typeface="Qanelas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90000" marB="90000">
                    <a:lnT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319884"/>
                  </a:ext>
                </a:extLst>
              </a:tr>
              <a:tr h="5736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50" b="1" i="0" kern="1200" dirty="0">
                          <a:solidFill>
                            <a:schemeClr val="tx1"/>
                          </a:solidFill>
                          <a:effectLst/>
                          <a:latin typeface="Qanelas Bold" pitchFamily="2" charset="77"/>
                          <a:ea typeface="+mn-ea"/>
                          <a:cs typeface="+mn-cs"/>
                        </a:rPr>
                        <a:t>Carton Quantity: </a:t>
                      </a:r>
                      <a:r>
                        <a:rPr lang="en-IN" sz="1050" b="0" i="0" kern="1200" dirty="0">
                          <a:solidFill>
                            <a:schemeClr val="tx1"/>
                          </a:solidFill>
                          <a:effectLst/>
                          <a:latin typeface="Qanelas" pitchFamily="2" charset="77"/>
                          <a:ea typeface="+mn-ea"/>
                          <a:cs typeface="+mn-cs"/>
                        </a:rPr>
                        <a:t>NA*</a:t>
                      </a:r>
                    </a:p>
                  </a:txBody>
                  <a:tcPr marL="90000" marR="90000" marT="90000" marB="90000">
                    <a:lnT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1" i="0" kern="1200" dirty="0">
                          <a:solidFill>
                            <a:schemeClr val="tx1"/>
                          </a:solidFill>
                          <a:effectLst/>
                          <a:latin typeface="Qanelas Bold" pitchFamily="2" charset="77"/>
                          <a:ea typeface="+mn-ea"/>
                          <a:cs typeface="+mn-cs"/>
                        </a:rPr>
                        <a:t>Peelable Film: </a:t>
                      </a:r>
                      <a:r>
                        <a:rPr lang="en-GB" sz="1050" b="0" kern="1200" dirty="0">
                          <a:solidFill>
                            <a:srgbClr val="000000"/>
                          </a:solidFill>
                          <a:effectLst/>
                          <a:latin typeface="Qanelas" pitchFamily="2" charset="77"/>
                          <a:ea typeface="+mn-ea"/>
                          <a:cs typeface="Arial" panose="020B0604020202020204" pitchFamily="34" charset="0"/>
                        </a:rPr>
                        <a:t>Yes </a:t>
                      </a:r>
                    </a:p>
                  </a:txBody>
                  <a:tcPr marL="90000" marR="90000" marT="90000" marB="90000">
                    <a:lnT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b="1" i="0" kern="1200" dirty="0">
                          <a:solidFill>
                            <a:schemeClr val="tx1"/>
                          </a:solidFill>
                          <a:effectLst/>
                          <a:latin typeface="Qanelas Bold" pitchFamily="2" charset="77"/>
                          <a:ea typeface="+mn-ea"/>
                          <a:cs typeface="+mn-cs"/>
                        </a:rPr>
                        <a:t>Oven Safe </a:t>
                      </a:r>
                      <a:r>
                        <a:rPr lang="en-IN" sz="1050" b="1" i="0" kern="1200">
                          <a:solidFill>
                            <a:schemeClr val="tx1"/>
                          </a:solidFill>
                          <a:effectLst/>
                          <a:latin typeface="Qanelas Bold" pitchFamily="2" charset="77"/>
                          <a:ea typeface="+mn-ea"/>
                          <a:cs typeface="+mn-cs"/>
                        </a:rPr>
                        <a:t>: </a:t>
                      </a:r>
                      <a:r>
                        <a:rPr lang="en-IN" sz="1050" b="0" i="0" kern="1200">
                          <a:solidFill>
                            <a:srgbClr val="000000"/>
                          </a:solidFill>
                          <a:effectLst/>
                          <a:latin typeface="Qanelas" pitchFamily="2" charset="77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lang="en-IN" sz="1050" b="0" dirty="0">
                        <a:solidFill>
                          <a:srgbClr val="000000"/>
                        </a:solidFill>
                        <a:effectLst/>
                        <a:latin typeface="Qanelas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0000" marR="90000" marT="90000" marB="90000">
                    <a:lnT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99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067485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F1B4934-376E-2201-0C75-37F7CA4AFFB6}"/>
              </a:ext>
            </a:extLst>
          </p:cNvPr>
          <p:cNvSpPr txBox="1"/>
          <p:nvPr/>
        </p:nvSpPr>
        <p:spPr>
          <a:xfrm>
            <a:off x="566571" y="3293457"/>
            <a:ext cx="1290804" cy="5539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1999B"/>
                </a:solidFill>
                <a:latin typeface="Qanelas SemiBold" pitchFamily="2" charset="77"/>
                <a:cs typeface="Poppins Medium" pitchFamily="2" charset="77"/>
              </a:rPr>
              <a:t>No added PFAS </a:t>
            </a:r>
          </a:p>
          <a:p>
            <a:pPr algn="ctr"/>
            <a:r>
              <a:rPr lang="en-US" sz="900" b="1" dirty="0">
                <a:solidFill>
                  <a:srgbClr val="01999B"/>
                </a:solidFill>
                <a:latin typeface="Qanelas" pitchFamily="2" charset="77"/>
                <a:cs typeface="Poppins Medium" pitchFamily="2" charset="77"/>
              </a:rPr>
              <a:t>Our Meal Trays are an environmental</a:t>
            </a:r>
          </a:p>
          <a:p>
            <a:pPr algn="ctr"/>
            <a:r>
              <a:rPr lang="en-US" sz="900" b="1" dirty="0">
                <a:solidFill>
                  <a:srgbClr val="01999B"/>
                </a:solidFill>
                <a:latin typeface="Qanelas" pitchFamily="2" charset="77"/>
                <a:cs typeface="Poppins Medium" pitchFamily="2" charset="77"/>
              </a:rPr>
              <a:t>alternative to plastic.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EF2F00-85D6-0C52-25A0-AC82D3516D4A}"/>
              </a:ext>
            </a:extLst>
          </p:cNvPr>
          <p:cNvSpPr txBox="1"/>
          <p:nvPr/>
        </p:nvSpPr>
        <p:spPr>
          <a:xfrm>
            <a:off x="2801219" y="3183550"/>
            <a:ext cx="1196928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>
                <a:solidFill>
                  <a:srgbClr val="01999B"/>
                </a:solidFill>
                <a:latin typeface="Qanelas SemiBold" pitchFamily="2" charset="77"/>
                <a:cs typeface="Poppins Medium" pitchFamily="2" charset="77"/>
              </a:rPr>
              <a:t>Engineered to provide structural integrity and moisture resistance under chilled and refrigerated environment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FA467B-3BA3-9FB6-5E14-7666B0C5FAE3}"/>
              </a:ext>
            </a:extLst>
          </p:cNvPr>
          <p:cNvSpPr txBox="1"/>
          <p:nvPr/>
        </p:nvSpPr>
        <p:spPr>
          <a:xfrm>
            <a:off x="4784635" y="3309981"/>
            <a:ext cx="1506794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900" b="1" dirty="0">
                <a:solidFill>
                  <a:srgbClr val="01999B"/>
                </a:solidFill>
                <a:latin typeface="Qanelas SemiBold" pitchFamily="2" charset="77"/>
                <a:cs typeface="Poppins Medium" pitchFamily="2" charset="77"/>
              </a:rPr>
              <a:t>Designed for packaging of Ready to eat in retail and wholesale</a:t>
            </a:r>
            <a:endParaRPr lang="en-US" sz="900" dirty="0">
              <a:solidFill>
                <a:srgbClr val="01999B"/>
              </a:solidFill>
              <a:latin typeface="Qanelas" pitchFamily="2" charset="77"/>
              <a:cs typeface="Poppins Medium" pitchFamily="2" charset="77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2105740-8D24-28D4-EF5E-BC596F6710E1}"/>
              </a:ext>
            </a:extLst>
          </p:cNvPr>
          <p:cNvSpPr/>
          <p:nvPr/>
        </p:nvSpPr>
        <p:spPr>
          <a:xfrm flipH="1">
            <a:off x="0" y="9231923"/>
            <a:ext cx="6867014" cy="678928"/>
          </a:xfrm>
          <a:prstGeom prst="rect">
            <a:avLst/>
          </a:prstGeom>
          <a:solidFill>
            <a:srgbClr val="024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AD101C-BE29-8C0D-4124-D819629AA0D4}"/>
              </a:ext>
            </a:extLst>
          </p:cNvPr>
          <p:cNvSpPr txBox="1"/>
          <p:nvPr/>
        </p:nvSpPr>
        <p:spPr>
          <a:xfrm>
            <a:off x="303326" y="9357650"/>
            <a:ext cx="634462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800" dirty="0">
                <a:solidFill>
                  <a:srgbClr val="FFFFFF"/>
                </a:solidFill>
                <a:effectLst/>
                <a:latin typeface="Qanelas" pitchFamily="2" charset="77"/>
              </a:rPr>
              <a:t>*Appliance Suitability: Our tests on microwave, oven and freezer usage may differ to individual use.</a:t>
            </a:r>
          </a:p>
          <a:p>
            <a:r>
              <a:rPr lang="en-IN" sz="800" dirty="0">
                <a:solidFill>
                  <a:srgbClr val="FFFFFF"/>
                </a:solidFill>
                <a:effectLst/>
                <a:latin typeface="Qanelas" pitchFamily="2" charset="77"/>
              </a:rPr>
              <a:t>We recommend reheating and freezer applications to individual testing suitable to your purposes and product.</a:t>
            </a:r>
          </a:p>
          <a:p>
            <a:r>
              <a:rPr lang="en-IN" sz="800" dirty="0">
                <a:solidFill>
                  <a:srgbClr val="FFFFFF"/>
                </a:solidFill>
                <a:effectLst/>
                <a:latin typeface="Qanelas" pitchFamily="2" charset="77"/>
              </a:rPr>
              <a:t>Note that lamination or lidding film may not be suitable for microwave or oven.</a:t>
            </a:r>
          </a:p>
        </p:txBody>
      </p:sp>
      <p:pic>
        <p:nvPicPr>
          <p:cNvPr id="1027" name="Picture 3" descr="page1image39062160">
            <a:extLst>
              <a:ext uri="{FF2B5EF4-FFF2-40B4-BE49-F238E27FC236}">
                <a16:creationId xmlns:a16="http://schemas.microsoft.com/office/drawing/2014/main" id="{DB316063-9D40-FB81-4458-439EF623BA67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855" y="1403770"/>
            <a:ext cx="22098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ge1image39062368">
            <a:extLst>
              <a:ext uri="{FF2B5EF4-FFF2-40B4-BE49-F238E27FC236}">
                <a16:creationId xmlns:a16="http://schemas.microsoft.com/office/drawing/2014/main" id="{445AA942-0F49-34CF-15D6-7A587E6C4EC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855" y="1403770"/>
            <a:ext cx="21463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C9ED808F-18D4-7965-0F40-4470C4AA6DBB}"/>
              </a:ext>
            </a:extLst>
          </p:cNvPr>
          <p:cNvSpPr/>
          <p:nvPr/>
        </p:nvSpPr>
        <p:spPr>
          <a:xfrm flipH="1">
            <a:off x="-9013" y="7521427"/>
            <a:ext cx="6876026" cy="17104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9" name="Picture 5" descr="page1image39062576">
            <a:extLst>
              <a:ext uri="{FF2B5EF4-FFF2-40B4-BE49-F238E27FC236}">
                <a16:creationId xmlns:a16="http://schemas.microsoft.com/office/drawing/2014/main" id="{10DE7B95-336D-5EBB-7BFA-3B2E9602E9D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855" y="1403770"/>
            <a:ext cx="255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5BF6CC-C8FE-19B6-9E91-35395F354D25}"/>
              </a:ext>
            </a:extLst>
          </p:cNvPr>
          <p:cNvSpPr txBox="1"/>
          <p:nvPr/>
        </p:nvSpPr>
        <p:spPr>
          <a:xfrm>
            <a:off x="5233555" y="7129046"/>
            <a:ext cx="1414395" cy="1384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IN" sz="900" dirty="0">
                <a:effectLst/>
                <a:latin typeface="Qanelas" pitchFamily="2" charset="77"/>
              </a:rPr>
              <a:t>*Based on the order placed</a:t>
            </a:r>
            <a:endParaRPr lang="en-IN" sz="900" dirty="0">
              <a:latin typeface="Qanelas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F1E04E-32B4-34AF-E3E4-0D489D20A8DA}"/>
              </a:ext>
            </a:extLst>
          </p:cNvPr>
          <p:cNvSpPr txBox="1"/>
          <p:nvPr/>
        </p:nvSpPr>
        <p:spPr>
          <a:xfrm>
            <a:off x="4732986" y="8479407"/>
            <a:ext cx="1506794" cy="3105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b="1" i="0" kern="1200" dirty="0">
                <a:solidFill>
                  <a:schemeClr val="tx1"/>
                </a:solidFill>
                <a:effectLst/>
                <a:latin typeface="Qanelas Bold" pitchFamily="2" charset="77"/>
                <a:ea typeface="+mn-ea"/>
                <a:cs typeface="+mn-cs"/>
              </a:rPr>
              <a:t>CPET Lamination</a:t>
            </a:r>
            <a:endParaRPr lang="en-IN" sz="1400" b="0" dirty="0">
              <a:solidFill>
                <a:srgbClr val="000000"/>
              </a:solidFill>
              <a:effectLst/>
              <a:latin typeface="Qanelas" pitchFamily="2" charset="77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CD3C2-4321-99BF-C2C0-C8CAA97D2D20}"/>
              </a:ext>
            </a:extLst>
          </p:cNvPr>
          <p:cNvSpPr txBox="1"/>
          <p:nvPr/>
        </p:nvSpPr>
        <p:spPr>
          <a:xfrm>
            <a:off x="376756" y="7772235"/>
            <a:ext cx="1748259" cy="54104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GB" sz="1400" b="1" i="0" kern="1200" dirty="0">
                <a:solidFill>
                  <a:schemeClr val="tx1"/>
                </a:solidFill>
                <a:effectLst/>
                <a:latin typeface="Qanelas Bold" pitchFamily="2" charset="77"/>
                <a:ea typeface="+mn-ea"/>
                <a:cs typeface="+mn-cs"/>
              </a:rPr>
              <a:t>Lamination Available- </a:t>
            </a:r>
            <a:r>
              <a:rPr lang="en-GB" sz="1400" dirty="0">
                <a:solidFill>
                  <a:srgbClr val="000000"/>
                </a:solidFill>
                <a:latin typeface="Qanelas" pitchFamily="2" charset="77"/>
                <a:cs typeface="Arial" panose="020B0604020202020204" pitchFamily="34" charset="0"/>
              </a:rPr>
              <a:t>Yes</a:t>
            </a:r>
            <a:endParaRPr lang="en-IN" sz="1400" dirty="0">
              <a:solidFill>
                <a:srgbClr val="000000"/>
              </a:solidFill>
              <a:latin typeface="Qanelas" pitchFamily="2" charset="77"/>
              <a:cs typeface="Arial" panose="020B0604020202020204" pitchFamily="34" charset="0"/>
            </a:endParaRPr>
          </a:p>
        </p:txBody>
      </p:sp>
      <p:sp>
        <p:nvSpPr>
          <p:cNvPr id="20" name="Doughnut 19">
            <a:extLst>
              <a:ext uri="{FF2B5EF4-FFF2-40B4-BE49-F238E27FC236}">
                <a16:creationId xmlns:a16="http://schemas.microsoft.com/office/drawing/2014/main" id="{E32161CE-B94D-338C-941F-3F6DCBD79742}"/>
              </a:ext>
            </a:extLst>
          </p:cNvPr>
          <p:cNvSpPr>
            <a:spLocks noChangeAspect="1"/>
          </p:cNvSpPr>
          <p:nvPr/>
        </p:nvSpPr>
        <p:spPr>
          <a:xfrm>
            <a:off x="2467732" y="7934758"/>
            <a:ext cx="216000" cy="216000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810352B1-BFB9-F579-7CE5-7EE925E4DC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01" t="20122" r="46748" b="17618"/>
          <a:stretch>
            <a:fillRect/>
          </a:stretch>
        </p:blipFill>
        <p:spPr>
          <a:xfrm>
            <a:off x="2625259" y="977500"/>
            <a:ext cx="1529678" cy="1834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40AF79-AFBD-094D-DD62-200E2680E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125" y="1114332"/>
            <a:ext cx="1998123" cy="13534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53757B-4071-112C-8F4C-DE2629C96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0920" y="7732568"/>
            <a:ext cx="1994503" cy="1351041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5871025-D921-9291-F694-811B249CF82A}"/>
              </a:ext>
            </a:extLst>
          </p:cNvPr>
          <p:cNvCxnSpPr>
            <a:stCxn id="15" idx="6"/>
            <a:endCxn id="13" idx="1"/>
          </p:cNvCxnSpPr>
          <p:nvPr/>
        </p:nvCxnSpPr>
        <p:spPr>
          <a:xfrm>
            <a:off x="4355123" y="8634674"/>
            <a:ext cx="377863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oughnut 14">
            <a:extLst>
              <a:ext uri="{FF2B5EF4-FFF2-40B4-BE49-F238E27FC236}">
                <a16:creationId xmlns:a16="http://schemas.microsoft.com/office/drawing/2014/main" id="{FCA5BC0A-09C2-DDBC-DA81-CDDC5858E5AB}"/>
              </a:ext>
            </a:extLst>
          </p:cNvPr>
          <p:cNvSpPr>
            <a:spLocks noChangeAspect="1"/>
          </p:cNvSpPr>
          <p:nvPr/>
        </p:nvSpPr>
        <p:spPr>
          <a:xfrm>
            <a:off x="4139123" y="8526674"/>
            <a:ext cx="216000" cy="216000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FE394D-A12D-201D-FE94-A9A425DD6B77}"/>
              </a:ext>
            </a:extLst>
          </p:cNvPr>
          <p:cNvCxnSpPr>
            <a:cxnSpLocks/>
            <a:stCxn id="20" idx="2"/>
            <a:endCxn id="2" idx="3"/>
          </p:cNvCxnSpPr>
          <p:nvPr/>
        </p:nvCxnSpPr>
        <p:spPr>
          <a:xfrm flipH="1">
            <a:off x="2125015" y="8042758"/>
            <a:ext cx="342717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4BCE03CA-027F-F128-D10E-9C270375F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279" y="-320378"/>
            <a:ext cx="1333247" cy="1333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193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PAR Branding">
      <a:dk1>
        <a:srgbClr val="000000"/>
      </a:dk1>
      <a:lt1>
        <a:srgbClr val="FFFFFF"/>
      </a:lt1>
      <a:dk2>
        <a:srgbClr val="004C58"/>
      </a:dk2>
      <a:lt2>
        <a:srgbClr val="D0D3D4"/>
      </a:lt2>
      <a:accent1>
        <a:srgbClr val="05A7AA"/>
      </a:accent1>
      <a:accent2>
        <a:srgbClr val="014955"/>
      </a:accent2>
      <a:accent3>
        <a:srgbClr val="FEFFFF"/>
      </a:accent3>
      <a:accent4>
        <a:srgbClr val="000000"/>
      </a:accent4>
      <a:accent5>
        <a:srgbClr val="57595B"/>
      </a:accent5>
      <a:accent6>
        <a:srgbClr val="D0D3D4"/>
      </a:accent6>
      <a:hlink>
        <a:srgbClr val="05A7AA"/>
      </a:hlink>
      <a:folHlink>
        <a:srgbClr val="004C58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5921</TotalTime>
  <Words>210</Words>
  <Application>Microsoft Macintosh PowerPoint</Application>
  <PresentationFormat>A4 Paper (210x297 mm)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Qanelas</vt:lpstr>
      <vt:lpstr>Qanelas Bold</vt:lpstr>
      <vt:lpstr>Qanelas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brad@threefourleft.studio</dc:creator>
  <cp:lastModifiedBy>Vibin Baburaj</cp:lastModifiedBy>
  <cp:revision>39</cp:revision>
  <dcterms:created xsi:type="dcterms:W3CDTF">2021-07-09T04:54:52Z</dcterms:created>
  <dcterms:modified xsi:type="dcterms:W3CDTF">2026-04-22T15:29:04Z</dcterms:modified>
</cp:coreProperties>
</file>